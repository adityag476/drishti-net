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95728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54864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 i="0">
                <a:solidFill>
                  <a:srgbClr val="E0722B"/>
                </a:solidFill>
                <a:latin typeface="Segoe UI"/>
              </a:rPr>
              <a:t>KLA i4C HACKATHON  ·  PROBLEM STATEMENT PS01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7772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Drishti</a:t>
            </a:r>
            <a:r>
              <a:rPr sz="4400" b="1" i="0">
                <a:solidFill>
                  <a:srgbClr val="E0722B"/>
                </a:solidFill>
                <a:latin typeface="Segoe UI"/>
              </a:rPr>
              <a:t>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20" y="777240"/>
            <a:ext cx="21031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3000" b="0" i="0">
                <a:solidFill>
                  <a:srgbClr val="E0722B"/>
                </a:solidFill>
                <a:latin typeface="Nirmala UI"/>
              </a:rPr>
              <a:t>दृष्टि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9EEF4"/>
                </a:solidFill>
                <a:latin typeface="Segoe UI"/>
              </a:rPr>
              <a:t>Deterministic, range-safe restoration of degraded semiconductor inspection images</a:t>
            </a:r>
          </a:p>
          <a:p>
            <a:r>
              <a:rPr sz="1100" b="0" i="0">
                <a:solidFill>
                  <a:srgbClr val="E9EEF4"/>
                </a:solidFill>
                <a:latin typeface="Segoe UI"/>
              </a:rPr>
              <a:t>DRISHTI-Net  =  Degradation-aware Restoration via Implicit Supervision for High-fidelity Technology Inspection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2743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>
                <a:solidFill>
                  <a:srgbClr val="122942"/>
                </a:solidFill>
                <a:latin typeface="Segoe UI"/>
              </a:rPr>
              <a:t>TEAM DETAILS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090672"/>
          <a:ext cx="7040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8346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Member name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Role in team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Focus area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AFB9C4"/>
                          </a:solidFill>
                          <a:latin typeface="Segoe UI"/>
                        </a:rPr>
                        <a:t>[ FILL: name 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E3741"/>
                          </a:solidFill>
                          <a:latin typeface="Segoe UI"/>
                        </a:rPr>
                        <a:t>Lead architect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A6470"/>
                          </a:solidFill>
                          <a:latin typeface="Segoe UI"/>
                        </a:rPr>
                        <a:t>Model design, training runs, experiment ladder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AFB9C4"/>
                          </a:solidFill>
                          <a:latin typeface="Segoe UI"/>
                        </a:rPr>
                        <a:t>[ FILL: name ]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E3741"/>
                          </a:solidFill>
                          <a:latin typeface="Segoe UI"/>
                        </a:rPr>
                        <a:t>Data / loss engineer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A6470"/>
                          </a:solidFill>
                          <a:latin typeface="Segoe UI"/>
                        </a:rPr>
                        <a:t>Degradation engine, FabLoss, Day-0 audit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AFB9C4"/>
                          </a:solidFill>
                          <a:latin typeface="Segoe UI"/>
                        </a:rPr>
                        <a:t>[ FILL: name 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E3741"/>
                          </a:solidFill>
                          <a:latin typeface="Segoe UI"/>
                        </a:rPr>
                        <a:t>Deployment &amp; benchmarking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A6470"/>
                          </a:solidFill>
                          <a:latin typeface="Segoe UI"/>
                        </a:rPr>
                        <a:t>eval.py, FP16/ONNX, timing harness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AFB9C4"/>
                          </a:solidFill>
                          <a:latin typeface="Segoe UI"/>
                        </a:rPr>
                        <a:t>[ FILL: name ]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E3741"/>
                          </a:solidFill>
                          <a:latin typeface="Segoe UI"/>
                        </a:rPr>
                        <a:t>Validation &amp; narrative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A6470"/>
                          </a:solidFill>
                          <a:latin typeface="Segoe UI"/>
                        </a:rPr>
                        <a:t>Metric suite, LODO, visuals, deck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183879" y="3090672"/>
            <a:ext cx="3456432" cy="242316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246120"/>
            <a:ext cx="310896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Registration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Team name:  [ FILL before PDF export ]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College:  [ FILL ]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City:  [ FILL ]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Contact:  [ FILL ]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Track:  KLA — PS01 (image restoration)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806440"/>
            <a:ext cx="10817352" cy="566928"/>
          </a:xfrm>
          <a:prstGeom prst="roundRect">
            <a:avLst/>
          </a:prstGeom>
          <a:solidFill>
            <a:srgbClr val="FB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925312"/>
            <a:ext cx="10424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Submission format:  </a:t>
            </a:r>
            <a:r>
              <a:rPr sz="1050" b="0" i="0">
                <a:solidFill>
                  <a:srgbClr val="2E3741"/>
                </a:solidFill>
                <a:latin typeface="Segoe UI"/>
              </a:rPr>
              <a:t>PDF, file name  TeamName_KLA_PS01  ·  9 slides (this deck)  ·  public GitHub repo linked on slide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Problem statement — 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AI-based restoration of degraded images for semiconductor inspection (KLA, PS01)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2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212080" cy="4297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•  One pixel can hide a defect.</a:t>
            </a:r>
            <a:r>
              <a:rPr sz="1100" b="0" i="0">
                <a:solidFill>
                  <a:srgbClr val="2E3741"/>
                </a:solidFill>
                <a:latin typeface="Segoe UI"/>
              </a:rPr>
              <a:t>  Inspection images drive pass/fail decisions at every fab stage; a speckle spike or a lost line edge can mask a killer defect and ship a bad die.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•  Real inspection images arrive degraded.</a:t>
            </a:r>
            <a:r>
              <a:rPr sz="1100" b="0" i="0">
                <a:solidFill>
                  <a:srgbClr val="2E3741"/>
                </a:solidFill>
                <a:latin typeface="Segoe UI"/>
              </a:rPr>
              <a:t>  Random speckle, a soft Gaussian haze, and 2× downsampling (512²→256², 256²→128²) jointly destroy signal. These losses occur together, not one at a time.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•  Engineers currently just live with it.</a:t>
            </a:r>
            <a:r>
              <a:rPr sz="1100" b="0" i="0">
                <a:solidFill>
                  <a:srgbClr val="2E3741"/>
                </a:solidFill>
                <a:latin typeface="Segoe UI"/>
              </a:rPr>
              <a:t>  Every fab pays for degraded data in escapes and re-measurements. Restoration that recovers the true image is direct yield value.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•  The catch: the test set is out-of-distribution.</a:t>
            </a:r>
            <a:r>
              <a:rPr sz="1100" b="0" i="0">
                <a:solidFill>
                  <a:srgbClr val="2E3741"/>
                </a:solidFill>
                <a:latin typeface="Segoe UI"/>
              </a:rPr>
              <a:t>  Winning requires generalizing to unseen image sources — and doing it fast enough to inline with fab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325880"/>
            <a:ext cx="5650992" cy="12984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53328" y="1435607"/>
            <a:ext cx="50292" cy="10789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417320"/>
            <a:ext cx="5285231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Speckle noise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9928"/>
            <a:ext cx="52578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Random, grainy, multiplicative — pushes pixels BEYOND the true intensity range.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Must fix:  </a:t>
            </a:r>
            <a:r>
              <a:rPr sz="1000" b="0" i="0">
                <a:solidFill>
                  <a:srgbClr val="5A6470"/>
                </a:solidFill>
                <a:latin typeface="Segoe UI"/>
              </a:rPr>
              <a:t>Denoise without blurring away real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807208"/>
            <a:ext cx="5650992" cy="12984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53328" y="2916936"/>
            <a:ext cx="50292" cy="1078992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2898648"/>
            <a:ext cx="5285231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Gaussian degradation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91256"/>
            <a:ext cx="52578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Soft, hazy, edges lose sharpness — blur and/or additive noise.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Must fix:  </a:t>
            </a:r>
            <a:r>
              <a:rPr sz="1000" b="0" i="0">
                <a:solidFill>
                  <a:srgbClr val="5A6470"/>
                </a:solidFill>
                <a:latin typeface="Segoe UI"/>
              </a:rPr>
              <a:t>Restore edge sharpness; no ringing artifacts.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4288536"/>
            <a:ext cx="5650992" cy="12984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53328" y="4398264"/>
            <a:ext cx="50292" cy="1078992"/>
          </a:xfrm>
          <a:prstGeom prst="rect">
            <a:avLst/>
          </a:prstGeom>
          <a:solidFill>
            <a:srgbClr val="1C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4379976"/>
            <a:ext cx="5285231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2× resolution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672584"/>
            <a:ext cx="52578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512²→256² or 256²→128² downsampled; fine detail gone.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Must fix:  </a:t>
            </a:r>
            <a:r>
              <a:rPr sz="1000" b="0" i="0">
                <a:solidFill>
                  <a:srgbClr val="5A6470"/>
                </a:solidFill>
                <a:latin typeface="Segoe UI"/>
              </a:rPr>
              <a:t>Reconstruct missing detail while upscaling 2×.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06440"/>
            <a:ext cx="11091672" cy="640080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88736"/>
            <a:ext cx="106984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 i="0">
                <a:solidFill>
                  <a:srgbClr val="E0722B"/>
                </a:solidFill>
                <a:latin typeface="Segoe UI"/>
              </a:rPr>
              <a:t>The trap designed into this PS:  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degraded intensities can exceed the ground-truth range. Any pipeline that clips or min-max normalizes destroys exactly the information it was asked to protect.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Idea description — read it, restore it, protect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One model. One forward pass. Every shipped decision gated by a measurement.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3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091672" cy="1298448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10515600" cy="10058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“DRISHTI-Net restores corrupted inspection frames in a single deterministic forward pass — and it was built the way a fab qualifies a process: every candidate enhancement (FiLM degradation conditioning, synthetic-data arms, SSIM/frequency loss terms) entered a controlled ablation ladder and survived only if it beat a measured gate. The checkpoint we ship is the configuration that won.”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8"/>
            <a:ext cx="3575304" cy="22128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7" y="2962656"/>
            <a:ext cx="50292" cy="1993391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944368"/>
            <a:ext cx="3209544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1 · Encode range-safely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246120"/>
            <a:ext cx="324612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Two-channel encoding [x/S, log1p(x/S)], scale S fixed from the Day-0 census — never clipped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Measured on real data: degraded pixels span [−0.28, +2.16] vs GT [0, 1] — out-of-range speckle is protected signal, not an artifact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A degradation-parameter reader (aux head) is implemented and validated on synthetic pairs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4" y="2852928"/>
            <a:ext cx="3575304" cy="22128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2962656"/>
            <a:ext cx="50292" cy="1993391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2944368"/>
            <a:ext cx="3209544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2 · Restore deterministically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246120"/>
            <a:ext cx="324612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NAF-style encoder–decoder (SimpleGate, SCA, LayerNorm — SCA placement adapted; no BatchNorm)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One joint pass: denoise + deblur + 2× super-resolution — no cascade, no information loss between stages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PixelShuffle learned ×2 + global bilinear residual;  3.47 M params (exact count printed from the shipped checkpoint)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2852928"/>
            <a:ext cx="3575304" cy="22128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2962656"/>
            <a:ext cx="50292" cy="1993391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944368"/>
            <a:ext cx="3209544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3 · Protect the 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246120"/>
            <a:ext cx="324612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Shipped objective: Charbonnier pixel loss — robust PSNR-aligned base (FabLoss V1, gate winner)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Sobel / FFT variants were gated through isolated arms — the champion formula is the one that measured best (slides 5–6)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Deterministic reconstruction objective, not a generative prior — minimizing the risk of synthesizing unsupported structure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85232"/>
            <a:ext cx="11091672" cy="9601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13248"/>
            <a:ext cx="106070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Deliberately absent:  diffusion / GAN (hallucination risk + fails the latency benchmark), Mixture-of-Experts and hard routing (training instability, branching latency), Mamba/SSM kernels (toolchain risk on a clean benchmark machine).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In inspection, a fabricated edge is a false defect and a smoothed scratch is an escape — we chose determinism.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Proposed solution — architecture &amp; training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Measured Day-0 census · engineered stability · gated loss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4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98448"/>
            <a:ext cx="11091672" cy="239572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27632"/>
            <a:ext cx="1051560" cy="14813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C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82496"/>
            <a:ext cx="996695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 i="0">
                <a:solidFill>
                  <a:srgbClr val="1C3A5F"/>
                </a:solidFill>
                <a:latin typeface="Segoe UI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960119" cy="10241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128² / 256²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float32, native range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842516" y="2249424"/>
            <a:ext cx="182880" cy="237744"/>
          </a:xfrm>
          <a:prstGeom prst="rightArrow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39112" y="1627632"/>
            <a:ext cx="1554480" cy="14813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66543" y="1682496"/>
            <a:ext cx="1499616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 i="0">
                <a:solidFill>
                  <a:srgbClr val="0E7C7B"/>
                </a:solidFill>
                <a:latin typeface="Segoe UI"/>
              </a:rPr>
              <a:t>Input encoding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2011680"/>
            <a:ext cx="1463039" cy="10241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[x/S , log1p(x/S)]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2 channels · no clipping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S fixed on Day 0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07308" y="2249424"/>
            <a:ext cx="182880" cy="237744"/>
          </a:xfrm>
          <a:prstGeom prst="rightArrow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03904" y="1627632"/>
            <a:ext cx="1691640" cy="14813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7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31336" y="1682496"/>
            <a:ext cx="1636776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 i="0">
                <a:solidFill>
                  <a:srgbClr val="E0722B"/>
                </a:solidFill>
                <a:latin typeface="Segoe UI"/>
              </a:rPr>
              <a:t>Degradation conditioning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9624" y="2011680"/>
            <a:ext cx="1600200" cy="10241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z-NORM + tanh-bounded FiLM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stability-verified over 10k steps*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shipped checkpoint: dormant</a:t>
            </a:r>
          </a:p>
          <a:p>
            <a:r>
              <a:rPr sz="850" b="0" i="0">
                <a:solidFill>
                  <a:srgbClr val="2E3741"/>
                </a:solidFill>
                <a:latin typeface="Segoe UI"/>
              </a:rPr>
              <a:t>(aux head: synthetic pairs only)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509259" y="2249424"/>
            <a:ext cx="182880" cy="237744"/>
          </a:xfrm>
          <a:prstGeom prst="rightArrow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05856" y="1627632"/>
            <a:ext cx="2514600" cy="14813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3288" y="1682496"/>
            <a:ext cx="2459736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 i="0">
                <a:solidFill>
                  <a:srgbClr val="122942"/>
                </a:solidFill>
                <a:latin typeface="Segoe UI"/>
              </a:rPr>
              <a:t>NAF-style U-Net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51576" y="2011680"/>
            <a:ext cx="2423160" cy="10241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enc [2,2,4] → mid 4 → dec [2,2,2]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SimpleGate + SCA + LayerNorm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no BatchNorm · skip-adds at 3 scales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</a:p>
        </p:txBody>
      </p:sp>
      <p:sp>
        <p:nvSpPr>
          <p:cNvPr id="24" name="Right Arrow 23"/>
          <p:cNvSpPr/>
          <p:nvPr/>
        </p:nvSpPr>
        <p:spPr>
          <a:xfrm>
            <a:off x="8234172" y="2249424"/>
            <a:ext cx="182880" cy="237744"/>
          </a:xfrm>
          <a:prstGeom prst="rightArrow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30768" y="1627632"/>
            <a:ext cx="1371600" cy="14813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C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682496"/>
            <a:ext cx="1316736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 i="0">
                <a:solidFill>
                  <a:srgbClr val="1C3A5F"/>
                </a:solidFill>
                <a:latin typeface="Segoe UI"/>
              </a:rPr>
              <a:t>PixelShuffle ×2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2011680"/>
            <a:ext cx="1280160" cy="10241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conv 32→128 · shuffle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conv 32→1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+ bilinear global residual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816084" y="2249424"/>
            <a:ext cx="182880" cy="237744"/>
          </a:xfrm>
          <a:prstGeom prst="rightArrow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12680" y="1627632"/>
            <a:ext cx="1536192" cy="14813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0112" y="1682496"/>
            <a:ext cx="1481328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 i="0">
                <a:solidFill>
                  <a:srgbClr val="0E7C7B"/>
                </a:solidFill>
                <a:latin typeface="Segoe UI"/>
              </a:rPr>
              <a:t>Restored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011680"/>
            <a:ext cx="1444751" cy="10241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256² / 512²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GT dtype &amp; range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850" b="0" i="0">
                <a:solidFill>
                  <a:srgbClr val="2E3741"/>
                </a:solidFill>
                <a:latin typeface="Segoe UI"/>
              </a:rPr>
              <a:t>exact inversion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200400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* FiLM variant verified stable (zAbs 0.46→0.25, gains pinned at the tanh bound, grad-norm decaying 0.12→0.009 over 10k iters) but did not beat the gate inside the 24 h budget — capability kept and documented; claim gated by ablation. Real KLA pairs carry no degradation labels, so the aux head is masked on real pairs by construction.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913632"/>
            <a:ext cx="6309360" cy="23317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7" y="4023360"/>
            <a:ext cx="50292" cy="2112263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005072"/>
            <a:ext cx="5943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FabLoss — the metrology-aligned loss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315968"/>
            <a:ext cx="5943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 i="0">
                <a:solidFill>
                  <a:srgbClr val="122942"/>
                </a:solidFill>
                <a:latin typeface="Consolas"/>
              </a:rPr>
              <a:t>Shipped (FabLoss V1):   L  =  L_Charbonnier</a:t>
            </a:r>
          </a:p>
          <a:p>
            <a:r>
              <a:rPr sz="950" b="1" i="0">
                <a:solidFill>
                  <a:srgbClr val="122942"/>
                </a:solidFill>
                <a:latin typeface="Consolas"/>
              </a:rPr>
              <a:t>Challenger (V2):   L_Charb + 0.2·L_Sobel + 0.1·L_FFT-magnitude-consistency   — 30k-iter run, gate verdict on slide 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773168"/>
            <a:ext cx="5943600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Charbonnier — robust pSNR base; gradients vanish smoothly near convergence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MS-SSIM (λ=0.5) — REJECTED from V1: a real-only arm collapsed 29.32 → 13.20 dB with erratic gradient spikes to ×232 (slide 6). Excised by measurement, not opinion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Sobel edge + FFT magnitude consistency (L1, orthonormal) — each isolated in 5k arms, then combined in the V2 challenger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aux — degradation-parameter regression, active on synthetic pairs only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Every λ is fixed by our ablation ladder, never assumed.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80" y="3913632"/>
            <a:ext cx="4599432" cy="23317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04888" y="4023360"/>
            <a:ext cx="50292" cy="2112263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42048" y="4005072"/>
            <a:ext cx="423367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Synthetic degradation engine — fingerprinted, then honest about its role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315968"/>
            <a:ext cx="420624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•  Speckle multiplicative, unclipped — post-downsample σ ≈ 0.157 dominant (Day-0 census of all 3,200 pairs)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•  Gaussian blur + additive noise · 4 downsample-kernel families · random order (measured noise-first frequency 0.70)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•  CutBlur · D4 symmetries · instrument artifacts: scan-line jitter, column banding, edge bloom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•  Shipped champion trained on real pairs; synthetic arms re-queued behind the worker-seeding fix (verified 1,024/1,024 unique vectors)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We learn the degradation process, not the training images.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</a:p>
          <a:p>
            <a:pPr algn="l">
              <a:lnSpc>
                <a:spcPct val="100000"/>
              </a:lnSpc>
              <a:spcAft>
                <a:spcPts val="300"/>
              </a:spcAft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Innovation &amp; uniqueness — five claims, each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Novelty that survives cross-examination: every claim pairs with a measured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5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091672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517904"/>
            <a:ext cx="548640" cy="548640"/>
          </a:xfrm>
          <a:prstGeom prst="ellipse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453896"/>
            <a:ext cx="6949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>
                <a:solidFill>
                  <a:srgbClr val="122942"/>
                </a:solidFill>
                <a:latin typeface="Segoe UI"/>
              </a:rPr>
              <a:t>Range-safe encoding &amp; output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73936"/>
            <a:ext cx="6949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Fixed-scale [x/S, log1p(x/S)] channels: degraded pixels measured up to −0.28…+2.16 (GT [0,1]) are preserved, never squashed. Output mirrors GT dtype and range exactly.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453896"/>
            <a:ext cx="288036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Proof: Day-0 census of all 3,200 pairs + evaluate.py round-trip of real .npy files (same name, same dtype)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22576"/>
            <a:ext cx="11091672" cy="8412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04872"/>
            <a:ext cx="6949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>
                <a:solidFill>
                  <a:srgbClr val="122942"/>
                </a:solidFill>
                <a:latin typeface="Segoe UI"/>
              </a:rPr>
              <a:t>Loss terms convicted by controlled arms, not curated by taste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724912"/>
            <a:ext cx="6949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Every candidate term ran isolated 5k steps from the same init on the same holdout. MS-SSIM collapsed catastrophically even with clamp + ramp active — and a Sobel control arm could not rescue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404872"/>
            <a:ext cx="288036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Proof: four-arm table (slide 6): collapses 13.20 / 13.48 dB vs stable 29.3 dB arms; erratic gradient spikes to ×232 / ×736 vs ≤0.2 in stable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73552"/>
            <a:ext cx="11091672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19856"/>
            <a:ext cx="548640" cy="548640"/>
          </a:xfrm>
          <a:prstGeom prst="ellipse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55848"/>
            <a:ext cx="6949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>
                <a:solidFill>
                  <a:srgbClr val="122942"/>
                </a:solidFill>
                <a:latin typeface="Segoe UI"/>
              </a:rPr>
              <a:t>Training-systems discipline (the silent-bug hunt)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675888"/>
            <a:ext cx="6949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A seeding bug made every dataloader worker sample identical degradations — silently weakening all synthetic arms. Found by statistical test, fixed, re-verified under Windows spawn semantics.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355848"/>
            <a:ext cx="288036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Proof: 1,024/1,024 unique degradation parameter vectors at 0/2/4 workers; kernel &amp; order frequencies match the engine census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24528"/>
            <a:ext cx="11091672" cy="8412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370832"/>
            <a:ext cx="548640" cy="548640"/>
          </a:xfrm>
          <a:prstGeom prst="ellipse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306824"/>
            <a:ext cx="6949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>
                <a:solidFill>
                  <a:srgbClr val="122942"/>
                </a:solidFill>
                <a:latin typeface="Segoe UI"/>
              </a:rPr>
              <a:t>FiLM degradation conditioning — verified, then gated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626864"/>
            <a:ext cx="6949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The conditioned variant (z-norm + tanh-bounded gains) ships in the repo. The revised implementation remained stable under 10k-step telemetry, eliminating the previously observed runaway behavior — yet it did not beat the gate in budget, so the shipped checkpoint keeps conditioning dormant.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306824"/>
            <a:ext cx="288036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Proof: per-stage telemetry — zAbs 0.46→0.25 · gains pinned at bounds · grad-norm 0.12→0.009 (log in repo)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75504"/>
            <a:ext cx="11091672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321808"/>
            <a:ext cx="548640" cy="548640"/>
          </a:xfrm>
          <a:prstGeom prst="ellipse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257800"/>
            <a:ext cx="6949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 i="0">
                <a:solidFill>
                  <a:srgbClr val="122942"/>
                </a:solidFill>
                <a:latin typeface="Segoe UI"/>
              </a:rPr>
              <a:t>Deterministic, anti-synthesis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577840"/>
            <a:ext cx="69494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A deterministic reconstruction objective rather than a generative prior — minimizing the risk of synthesizing unsupported structures (or erasing real ones). Built for metrology, not for pretty pictures.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5257800"/>
            <a:ext cx="288036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Proof: flat-region residual σ = 0.0232 mean + worst-10% patch SSIM 0.7354 — 160 held-out frames, printed by scripts/report.py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81344"/>
            <a:ext cx="10972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1">
                <a:solidFill>
                  <a:srgbClr val="5A6470"/>
                </a:solidFill>
                <a:latin typeface="Segoe UI"/>
              </a:rPr>
              <a:t>Also engineered in: degradation-order census match (noise-first 0.70) · worst-patch metrics so blur can't hide behind global means · benchmark-hardened zero-edit evaluate.py (CPU fallback, dtype-mirroring, per-image stdout for the timing harness).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Results — measured, not promised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Every number on this slide is produced by our own evaluation harness on held-out splits. No estimates.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6 / 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6675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43000"/>
                <a:gridCol w="1143000"/>
                <a:gridCol w="1143000"/>
                <a:gridCol w="114300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Configuration — held-out 160 pairs, train-excluded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PSNR ↑ dB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SSIM ↑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Loss recipe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12294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2E3741"/>
                          </a:solidFill>
                          <a:latin typeface="Segoe UI"/>
                        </a:rPr>
                        <a:t>Champion: M3e = FabLoss V2 (best.pt, step 21,000)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29.33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0.7913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Charb + 0.2·Sobel + 0.1·FFT-mag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SHIPPED — beat gate on both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2E3741"/>
                          </a:solidFill>
                          <a:latin typeface="Segoe UI"/>
                        </a:rPr>
                        <a:t>Gate-setter: M0r-v5 (best.pt, step 19,000)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29.32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0.7911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Charbonnier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baseline it beat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2E3741"/>
                          </a:solidFill>
                          <a:latin typeface="Segoe UI"/>
                        </a:rPr>
                        <a:t>Ablation M3a / M3d (+ control)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13.20 / 13.48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0.3257 / 0.5606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Charb + 0.5·MS-SSIM (±Sobel)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collapse — excised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2E3741"/>
                          </a:solidFill>
                          <a:latin typeface="Segoe UI"/>
                        </a:rPr>
                        <a:t>Ablation M3b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29.31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0.7907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Charb + 0.2·Sobel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safe ≠ useful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2E3741"/>
                          </a:solidFill>
                          <a:latin typeface="Segoe UI"/>
                        </a:rPr>
                        <a:t>Ablation M3c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29.29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0.7924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Charb + 0.1·FFT-mag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AFB9C4"/>
                          </a:solidFill>
                          <a:latin typeface="Segoe UI"/>
                        </a:rPr>
                        <a:t>SSIM-lean → V2 seed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063240"/>
            <a:ext cx="6583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All numbers from our own harness on the same held-out 160 pairs (train-excluded). Extended suite — edge-region PSNR, edge-SSIM, flat-region residual σ, worst-10%-patch SSIM, LPIPS local diagnostic, timing — from scripts/report.py on both champions (reports/M3e_30k.md and reports/M0r_v5.md in the repo).</a:t>
            </a:r>
          </a:p>
          <a:p>
            <a:r>
              <a:rPr sz="750" b="0" i="1">
                <a:solidFill>
                  <a:srgbClr val="5A6470"/>
                </a:solidFill>
                <a:latin typeface="Segoe UI"/>
              </a:rPr>
              <a:t>OOD proxy — a synthetic degradation family no candidate ever trained on (all three checkpoints are real-pairs-only; LANCZOS4 corner, seed 777, paired inputs): champion 25.46 dB / 0.604 · baseline 25.56 / 0.611 · FiLM 25.56 / 0.611, within 0.11 dB — on this proxy, neither enhanced model improved over the real-only baseline. Evidence, not a prediction of the KLA test set (reports/lodo_kernel3.md).</a:t>
            </a:r>
          </a:p>
          <a:p>
            <a:r>
              <a:rPr sz="750" b="0" i="1">
                <a:solidFill>
                  <a:srgbClr val="5A6470"/>
                </a:solidFill>
                <a:latin typeface="Segoe UI"/>
              </a:rPr>
              <a:t>Honesty note: margins under ~0.05 dB are within our observed run-to-run variance and are NOT claimed as significant; exact checkpoint values and full trajectories ship in the repo.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371600"/>
            <a:ext cx="4187952" cy="201168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16368" y="1481328"/>
            <a:ext cx="50292" cy="179222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1463040"/>
            <a:ext cx="3822191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Measurement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755648"/>
            <a:ext cx="3749039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 i="0">
                <a:solidFill>
                  <a:srgbClr val="2E3741"/>
                </a:solidFill>
                <a:latin typeface="Segoe UI"/>
              </a:rPr>
              <a:t>•  Timing: per-image CUDA sync, steady-state trace of 800 consecutive images (median + p95, scripts/latency_trace.py) — local RTX 4060 Laptop GPU benchmark; no H100 projection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 i="0">
                <a:solidFill>
                  <a:srgbClr val="2E3741"/>
                </a:solidFill>
                <a:latin typeface="Segoe UI"/>
              </a:rPr>
              <a:t>•  Holdout: last 160 sorted filenames, never trained on · SSIM = our Gaussian-window implementation (consistent internal comparator)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 i="0">
                <a:solidFill>
                  <a:srgbClr val="2E3741"/>
                </a:solidFill>
                <a:latin typeface="Segoe UI"/>
              </a:rPr>
              <a:t>•  LPIPS: local-only diagnostic (lpips pkg, torchvision VGG weights; provenance documented) — never a gate metric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 i="0">
                <a:solidFill>
                  <a:srgbClr val="2E3741"/>
                </a:solidFill>
                <a:latin typeface="Segoe UI"/>
              </a:rPr>
              <a:t>•  Same zero-edit script KLA will run: evaluate.py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703320"/>
            <a:ext cx="3017520" cy="1874519"/>
          </a:xfrm>
          <a:prstGeom prst="roundRect">
            <a:avLst/>
          </a:prstGeom>
          <a:solidFill>
            <a:srgbClr val="E9EEF4"/>
          </a:solidFill>
          <a:ln w="12700">
            <a:solidFill>
              <a:srgbClr val="AFB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632704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Degraded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888736"/>
            <a:ext cx="3017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degraded input — 128² (real KLA train pair)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959352" y="4526280"/>
            <a:ext cx="274320" cy="274320"/>
          </a:xfrm>
          <a:prstGeom prst="rightArrow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70248" y="3703320"/>
            <a:ext cx="3017520" cy="1874519"/>
          </a:xfrm>
          <a:prstGeom prst="roundRect">
            <a:avLst/>
          </a:prstGeom>
          <a:solidFill>
            <a:srgbClr val="E9EEF4"/>
          </a:solidFill>
          <a:ln w="12700">
            <a:solidFill>
              <a:srgbClr val="AFB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5632704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DRISHTI-Net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5888736"/>
            <a:ext cx="3017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DRISHTI-Net output — restored 256² (from outputs/restored_train)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360920" y="4526280"/>
            <a:ext cx="274320" cy="274320"/>
          </a:xfrm>
          <a:prstGeom prst="rightArrow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71816" y="3703320"/>
            <a:ext cx="3017520" cy="1874519"/>
          </a:xfrm>
          <a:prstGeom prst="roundRect">
            <a:avLst/>
          </a:prstGeom>
          <a:solidFill>
            <a:srgbClr val="E9EEF4"/>
          </a:solidFill>
          <a:ln w="12700">
            <a:solidFill>
              <a:srgbClr val="AFB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1816" y="5632704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Ground truth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816" y="5888736"/>
            <a:ext cx="3017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0" i="1">
                <a:solidFill>
                  <a:srgbClr val="5A6470"/>
                </a:solidFill>
                <a:latin typeface="Segoe UI"/>
              </a:rPr>
              <a:t>ground truth — clean 256²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236208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r>
              <a:rPr sz="850">
                <a:solidFill>
                  <a:srgbClr val="333333"/>
                </a:solidFill>
              </a:rPr>
              <a:t>A — Typical held-out case: 003193 · 29.07 dB / SSIM 0.9029     B — Strongest textured held-out case: 003107 · 37.22 dB / 0.9538     C — Challenging held-out case: 003136 · 23.87 dB / 0.7097</a:t>
            </a:r>
          </a:p>
          <a:p>
            <a:r>
              <a:rPr sz="750">
                <a:solidFill>
                  <a:srgbClr val="333333"/>
                </a:solidFill>
              </a:rPr>
              <a:t>Panels render the shipped checkpoint's actual outputs on never-trained holdout frames — deliberate SPREAD selected by measured rule: A = nearest-median PSNR · B = strongest among textured frames (Sobel-energy floor ≥ P25; near-blank frames earn trivially high PSNR and are excluded by rule, not by eye — skipped frames printed by name) · C = challenging (P10). Renders + full receipts ship in the repo (docs/panels/panels_index.txt).</a:t>
            </a:r>
          </a:p>
        </p:txBody>
      </p:sp>
      <p:pic>
        <p:nvPicPr>
          <p:cNvPr id="29" name="Picture 28" descr="panel_A_typical_l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941832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A</a:t>
            </a:r>
          </a:p>
        </p:txBody>
      </p:sp>
      <p:pic>
        <p:nvPicPr>
          <p:cNvPr id="31" name="Picture 30" descr="panel_B_strongest_l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7222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1917222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B</a:t>
            </a:r>
          </a:p>
        </p:txBody>
      </p:sp>
      <p:pic>
        <p:nvPicPr>
          <p:cNvPr id="33" name="Picture 32" descr="panel_C_challenging_l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2612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34" name="TextBox 33"/>
          <p:cNvSpPr txBox="1"/>
          <p:nvPr/>
        </p:nvSpPr>
        <p:spPr>
          <a:xfrm>
            <a:off x="2892612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C</a:t>
            </a:r>
          </a:p>
        </p:txBody>
      </p:sp>
      <p:pic>
        <p:nvPicPr>
          <p:cNvPr id="35" name="Picture 34" descr="panel_A_typical_p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36" name="TextBox 35"/>
          <p:cNvSpPr txBox="1"/>
          <p:nvPr/>
        </p:nvSpPr>
        <p:spPr>
          <a:xfrm>
            <a:off x="4343400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A</a:t>
            </a:r>
          </a:p>
        </p:txBody>
      </p:sp>
      <p:pic>
        <p:nvPicPr>
          <p:cNvPr id="37" name="Picture 36" descr="panel_B_strongest_p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8790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318790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B</a:t>
            </a:r>
          </a:p>
        </p:txBody>
      </p:sp>
      <p:pic>
        <p:nvPicPr>
          <p:cNvPr id="39" name="Picture 38" descr="panel_C_challenging_p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4180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6294180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C</a:t>
            </a:r>
          </a:p>
        </p:txBody>
      </p:sp>
      <p:pic>
        <p:nvPicPr>
          <p:cNvPr id="41" name="Picture 40" descr="panel_A_typical_g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4968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7744968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A</a:t>
            </a:r>
          </a:p>
        </p:txBody>
      </p:sp>
      <p:pic>
        <p:nvPicPr>
          <p:cNvPr id="43" name="Picture 42" descr="panel_B_strongest_g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0358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8720358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B</a:t>
            </a:r>
          </a:p>
        </p:txBody>
      </p:sp>
      <p:pic>
        <p:nvPicPr>
          <p:cNvPr id="45" name="Picture 44" descr="panel_C_challenging_g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5748" y="3776472"/>
            <a:ext cx="920526" cy="920526"/>
          </a:xfrm>
          <a:prstGeom prst="rect">
            <a:avLst/>
          </a:prstGeom>
          <a:ln w="9525">
            <a:solidFill>
              <a:srgbClr val="B8B8B8"/>
            </a:solidFill>
          </a:ln>
        </p:spPr>
      </p:pic>
      <p:sp>
        <p:nvSpPr>
          <p:cNvPr id="46" name="TextBox 45"/>
          <p:cNvSpPr txBox="1"/>
          <p:nvPr/>
        </p:nvSpPr>
        <p:spPr>
          <a:xfrm>
            <a:off x="9695748" y="4754880"/>
            <a:ext cx="92052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555555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Technology &amp;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Small model, standard stack, reproducible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7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532120" cy="48006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7" y="1435607"/>
            <a:ext cx="50292" cy="4581144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17320"/>
            <a:ext cx="516635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Stack &amp; numbers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783080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819656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PyTorch 2.x · bf16 mixed precision · grad-clip + probe telemetry harness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18004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Data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54580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OpenCV + NumPy · on-the-fly engine fingerprinted by the Day-0 census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52928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Model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889504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3.47 M params, ~14 MB fp32 (exact count printed from the shipped checkpoint)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387852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424428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single pass, FP16 with automatic FP32 fallback · dtype-mirroring I/O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22776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959352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16.5 ms/img median · 19.2 p95 — 800 consecutive sync-timed images, SM-clock sampled (trace-verified) · 17.4 ms full-folder streaming (3,200 imgs) — RTX 4060 Laptop benchmark; no H100 projection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457700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Training HW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494276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RTX 4060 8 GB laptop — 0.15–0.19 s/iter @256² measured; champion 30k iters ≈ 1.5 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992624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Eval script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5029200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zero-edit CLI · auto CUDA→CPU · per-image stdout progress for the timing harness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527548"/>
            <a:ext cx="1691640" cy="384048"/>
          </a:xfrm>
          <a:prstGeom prst="round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122942"/>
                </a:solidFill>
                <a:latin typeface="Segoe UI"/>
              </a:rPr>
              <a:t>Reproducibility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5564124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requirements.txt · fixed seeds logged per run · fresh-clone run gate before submit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1325880"/>
            <a:ext cx="5376672" cy="48006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1435607"/>
            <a:ext cx="50292" cy="4581144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7" y="1417320"/>
            <a:ext cx="501091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Why this is feasible — and disciplined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783080"/>
            <a:ext cx="498348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~3.5 M-param CNN: a full 30k run is ~1.5 h on a laptop — the entire ablation ladder fit the hackathon clock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Gate discipline: a term or variant must beat a measured gate or it is cut — MS-SSIM cut by evidence, conditioning kept dormant by evidence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Full-frame 256² training (patch = frame), cosine LR, warmup tuned against measured instability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•  evaluate.py degrades to CPU-only gracefully if the scoring machine lacks CUDA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977639"/>
            <a:ext cx="49834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Execution plan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4343400"/>
            <a:ext cx="658368" cy="310896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4681728"/>
            <a:ext cx="786384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0" i="0">
                <a:solidFill>
                  <a:srgbClr val="5A6470"/>
                </a:solidFill>
                <a:latin typeface="Segoe UI"/>
              </a:rPr>
              <a:t>data census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59" y="4343400"/>
            <a:ext cx="658368" cy="310896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4681728"/>
            <a:ext cx="786384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0" i="0">
                <a:solidFill>
                  <a:srgbClr val="5A6470"/>
                </a:solidFill>
                <a:latin typeface="Segoe UI"/>
              </a:rPr>
              <a:t>engine + audit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343400"/>
            <a:ext cx="658368" cy="310896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0415" y="4681728"/>
            <a:ext cx="786384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0" i="0">
                <a:solidFill>
                  <a:srgbClr val="5A6470"/>
                </a:solidFill>
                <a:latin typeface="Segoe UI"/>
              </a:rPr>
              <a:t>v4 ladder: failures logged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0" y="4343400"/>
            <a:ext cx="658368" cy="310896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31936" y="4681728"/>
            <a:ext cx="786384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0" i="0">
                <a:solidFill>
                  <a:srgbClr val="5A6470"/>
                </a:solidFill>
                <a:latin typeface="Segoe UI"/>
              </a:rPr>
              <a:t>v8 revision + re-baseline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8320" y="4343400"/>
            <a:ext cx="658368" cy="310896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63456" y="4681728"/>
            <a:ext cx="786384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0" i="0">
                <a:solidFill>
                  <a:srgbClr val="5A6470"/>
                </a:solidFill>
                <a:latin typeface="Segoe UI"/>
              </a:rPr>
              <a:t>champion 30k + M3 battery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49840" y="4343400"/>
            <a:ext cx="658368" cy="310896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4976" y="4681728"/>
            <a:ext cx="786384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0" i="0">
                <a:solidFill>
                  <a:srgbClr val="5A6470"/>
                </a:solidFill>
                <a:latin typeface="Segoe UI"/>
              </a:rPr>
              <a:t>V2 challenger gate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81360" y="4343400"/>
            <a:ext cx="658368" cy="310896"/>
          </a:xfrm>
          <a:prstGeom prst="round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D6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6496" y="4681728"/>
            <a:ext cx="786384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0" i="0">
                <a:solidFill>
                  <a:srgbClr val="5A6470"/>
                </a:solidFill>
                <a:latin typeface="Segoe UI"/>
              </a:rPr>
              <a:t>ship: deck + repo + demo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5349240"/>
            <a:ext cx="49834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Hard vetoes:  </a:t>
            </a:r>
            <a:r>
              <a:rPr sz="950" b="0" i="0">
                <a:solidFill>
                  <a:srgbClr val="2E3741"/>
                </a:solidFill>
                <a:latin typeface="Segoe UI"/>
              </a:rPr>
              <a:t>diffusion · MoE/hard routing · Mamba · gradient-TTA · clipping normalization · BatchNorm · any unmeasured number.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GitHub repository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A reviewer clones the repo and runs inference without contacting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8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989320" cy="48006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7" y="1435607"/>
            <a:ext cx="50292" cy="4581144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17320"/>
            <a:ext cx="562355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Repository — github.com/[team]/drishti-net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548640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data/              # loaders + census-fingerprinted degradation engine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models/            # DRISHTI-Net NAF-style net + FiLM variant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losses/            # FabLoss: Charb shipped; Sobel/FFT arms; MS-SSIM kept as ablation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utils/             # metrics: Gaussian SSIM, edge/flat/worst-patch, LPIPS diagnostic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scripts/           # day0_audit · report.py · loss unit tests · ladder runner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weights/           # drishti_net.pt — THE champion (exactly one model file)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tests/smoke/       # smoke weights (dev-only placeholder, power-on self-test)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outputs/           # demo restores + panels (full 3,200-file set reproduces with one command — too large for git)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reports/           # report.py + lodo_eval evidence (json/md, both champions)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2E3741"/>
                </a:solidFill>
                <a:latin typeface="Consolas"/>
              </a:rPr>
              <a:t>├── docs/              # audit report · reviewer evidence · MASTER_SPEC decision log</a:t>
            </a:r>
          </a:p>
          <a:p>
            <a:r>
              <a:rPr sz="1000" b="0" i="0">
                <a:solidFill>
                  <a:srgbClr val="2E3741"/>
                </a:solidFill>
                <a:latin typeface="Consolas"/>
              </a:rPr>
              <a:t>├── evaluate.py        # MANDATORY: zero-edit CLI inference</a:t>
            </a:r>
          </a:p>
          <a:p>
            <a:r>
              <a:rPr sz="1000" b="0" i="0">
                <a:solidFill>
                  <a:srgbClr val="2E3741"/>
                </a:solidFill>
                <a:latin typeface="Consolas"/>
              </a:rPr>
              <a:t>├── train.py           # the full ladder with probe telemetry</a:t>
            </a:r>
          </a:p>
          <a:p>
            <a:r>
              <a:rPr sz="1000" b="0" i="0">
                <a:solidFill>
                  <a:srgbClr val="2E3741"/>
                </a:solidFill>
                <a:latin typeface="Consolas"/>
              </a:rPr>
              <a:t>└── README.md + requirements.txt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5486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Repo checklist:  </a:t>
            </a:r>
            <a:r>
              <a:rPr sz="950" b="0" i="0">
                <a:solidFill>
                  <a:srgbClr val="2E3741"/>
                </a:solidFill>
                <a:latin typeface="Segoe UI"/>
              </a:rPr>
              <a:t>README that runs · standalone eval script · training script · downloadable weights · restored outputs · pinned requirements. All six mandated items present.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325880"/>
            <a:ext cx="4919472" cy="480060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84848" y="1435607"/>
            <a:ext cx="50292" cy="4581144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2007" y="1417320"/>
            <a:ext cx="455371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122942"/>
                </a:solidFill>
                <a:latin typeface="Segoe UI"/>
              </a:rPr>
              <a:t>Links &amp;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783080"/>
            <a:ext cx="44805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GitHub:  github.com/Adityag476/DRISHTI-Net (public — code, weights, outputs, reports)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Video:  youtu.be/XoaiKg5po4c — 62-second capture: evaluate.py live restore + measured reports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Weights:  in-repo (~14 MB, under the 100 MB limit)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1" i="0">
                <a:solidFill>
                  <a:srgbClr val="122942"/>
                </a:solidFill>
                <a:latin typeface="Segoe UI"/>
              </a:rPr>
              <a:t>License:  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977639"/>
            <a:ext cx="44805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 i="0">
                <a:solidFill>
                  <a:srgbClr val="122942"/>
                </a:solidFill>
                <a:latin typeface="Segoe UI"/>
              </a:rPr>
              <a:t>The demo video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315968"/>
            <a:ext cx="44805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1.  fresh clone → pip install -r requirements.txt → a single command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2.  folder of degraded .npy in → restored folder out, with per-image stdout progress + latency line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3.  before/after panels rendered from outputs/restored_train on the real train set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2E3741"/>
                </a:solidFill>
                <a:latin typeface="Segoe UI"/>
              </a:rPr>
              <a:t>4.  reports/*.md table: PSNR / SSIM / edge / flat-region σ / worst-patch / LPIPS + device-tagged timing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2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 i="0">
                <a:solidFill>
                  <a:srgbClr val="122942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5A6470"/>
                </a:solidFill>
                <a:latin typeface="Segoe UI"/>
              </a:rPr>
              <a:t>Papers and tools this design builds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960120" cy="45720"/>
          </a:xfrm>
          <a:prstGeom prst="rect">
            <a:avLst/>
          </a:prstGeom>
          <a:solidFill>
            <a:srgbClr val="E07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DRISHTI-Net  ·  KLA i4C Hackathon  ·  PS01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47104"/>
            <a:ext cx="502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AFB9C4"/>
                </a:solidFill>
                <a:latin typeface="Segoe UI"/>
              </a:rPr>
              <a:t>9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486400" cy="4754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1.  Chen et al. — “NAFNet: Nonlinear Activation Free Networks for Image Restoration”, ECCV 2022. (blocks are a NAF-style variant: SCA placement adapted — deliberate)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2.  Perez et al. — “FiLM: Visual Reasoning with a General Conditioning Layer”, AAAI 2018. (conditioning variant, stability-verified)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3.  Wang et al. — “Real-ESRGAN: Training Real-World Blind SR with Pure Synthetic Data”, ICCVW 2021. (degradation randomization)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4.  Ledig et al. — “Photo-Realistic Single Image SR Using a GAN”, CVPR 2017. (global residual learning — our bilinear add-back)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5.  Wang et al. — “Multiscale Structural Similarity for Image Quality Assessment”, 2003. (evaluated in our ladder; rejected at λ=0.5 by measured collapse)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5394960" cy="4754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6.  Charbonnier et al. — “Deterministic Edge-Preserving Regularization in Computed Imaging”, IEEE TIP 1997. (shipped pixel loss)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7.  Zhang et al. — “LPIPS: The Unreasonable Effectiveness of Deep Features as a Perceptual Metric”, CVPR 2018. (local-only diagnostic)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8.  Zamir et al. — “Restormer”, CVPR 2022 · Liang et al. — “SwinIR”, ICCVW 2021. (related architectures considered; a compact CNN chosen for determinism + benchmark latency)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9.  Yoo et al. — “CutBlur: Re-thinking Data Augmentation for Low-Level Vision”, CVPRW 2020. (augmentation)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10.  Ronneberger et al. — “U-Net”, MICCAI 2015. (encoder–decoder + skip connections)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00" b="0" i="0">
                <a:solidFill>
                  <a:srgbClr val="2E3741"/>
                </a:solidFill>
                <a:latin typeface="Segoe UI"/>
              </a:rPr>
              <a:t>11.  KLA / i4C — PS01 problem brief: data notes, out-of-range speckle behaviour, OOD test set, H100 benchmark.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029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016752"/>
            <a:ext cx="106070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122942"/>
                </a:solidFill>
                <a:latin typeface="Segoe UI"/>
              </a:rPr>
              <a:t>Tools:  PyTorch 2.x · OpenCV · NumPy · pytorch-msssim (ablation arms only) · lpips (diagnostic only) · custom degradation engine by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